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7" r:id="rId4"/>
  </p:sldMasterIdLst>
  <p:notesMasterIdLst>
    <p:notesMasterId r:id="rId6"/>
  </p:notesMasterIdLst>
  <p:sldIdLst>
    <p:sldId id="256" r:id="rId5"/>
  </p:sldIdLst>
  <p:sldSz cx="42803763"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5" userDrawn="1">
          <p15:clr>
            <a:srgbClr val="A4A3A4"/>
          </p15:clr>
        </p15:guide>
        <p15:guide id="2" pos="134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9D6"/>
    <a:srgbClr val="464646"/>
    <a:srgbClr val="C4EBD0"/>
    <a:srgbClr val="4365E2"/>
    <a:srgbClr val="D1E2F2"/>
    <a:srgbClr val="FFFFFF"/>
    <a:srgbClr val="FFFEFF"/>
    <a:srgbClr val="FFECD2"/>
    <a:srgbClr val="F4CEC3"/>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6" autoAdjust="0"/>
    <p:restoredTop sz="95354" autoAdjust="0"/>
  </p:normalViewPr>
  <p:slideViewPr>
    <p:cSldViewPr>
      <p:cViewPr>
        <p:scale>
          <a:sx n="77" d="100"/>
          <a:sy n="77" d="100"/>
        </p:scale>
        <p:origin x="-7888" y="-2704"/>
      </p:cViewPr>
      <p:guideLst>
        <p:guide orient="horz" pos="9535"/>
        <p:guide pos="13481"/>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71055F-8152-4ADD-8E3E-DCAE390CBDE8}" type="datetimeFigureOut">
              <a:rPr lang="en-GB" smtClean="0"/>
              <a:pPr/>
              <a:t>27/04/2026</a:t>
            </a:fld>
            <a:endParaRPr lang="en-GB"/>
          </a:p>
        </p:txBody>
      </p:sp>
      <p:sp>
        <p:nvSpPr>
          <p:cNvPr id="4" name="Slide Image Placeholder 3"/>
          <p:cNvSpPr>
            <a:spLocks noGrp="1" noRot="1" noChangeAspect="1"/>
          </p:cNvSpPr>
          <p:nvPr>
            <p:ph type="sldImg" idx="2"/>
          </p:nvPr>
        </p:nvSpPr>
        <p:spPr>
          <a:xfrm>
            <a:off x="1006475" y="685800"/>
            <a:ext cx="484505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39FBAEE-D496-449C-AFE8-119C27EFB506}" type="slidenum">
              <a:rPr lang="en-GB" smtClean="0"/>
              <a:pPr/>
              <a:t>‹#›</a:t>
            </a:fld>
            <a:endParaRPr lang="en-GB"/>
          </a:p>
        </p:txBody>
      </p:sp>
    </p:spTree>
    <p:extLst>
      <p:ext uri="{BB962C8B-B14F-4D97-AF65-F5344CB8AC3E}">
        <p14:creationId xmlns:p14="http://schemas.microsoft.com/office/powerpoint/2010/main" val="301000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06475" y="685800"/>
            <a:ext cx="484505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A39FBAEE-D496-449C-AFE8-119C27EFB506}" type="slidenum">
              <a:rPr lang="en-GB" smtClean="0"/>
              <a:pPr/>
              <a:t>1</a:t>
            </a:fld>
            <a:endParaRPr lang="en-GB"/>
          </a:p>
        </p:txBody>
      </p:sp>
    </p:spTree>
    <p:extLst>
      <p:ext uri="{BB962C8B-B14F-4D97-AF65-F5344CB8AC3E}">
        <p14:creationId xmlns:p14="http://schemas.microsoft.com/office/powerpoint/2010/main" val="678270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9"/>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605141" y="21896939"/>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Subtitle 2"/>
          <p:cNvSpPr>
            <a:spLocks noGrp="1"/>
          </p:cNvSpPr>
          <p:nvPr>
            <p:ph type="subTitle" idx="1"/>
          </p:nvPr>
        </p:nvSpPr>
        <p:spPr>
          <a:xfrm>
            <a:off x="30230158" y="21896939"/>
            <a:ext cx="11235988" cy="6458712"/>
          </a:xfrm>
        </p:spPr>
        <p:txBody>
          <a:bodyPr lIns="91440" rIns="91440" anchor="ctr">
            <a:normAutofit/>
          </a:bodyPr>
          <a:lstStyle>
            <a:lvl1pPr marL="0" indent="0" algn="l">
              <a:lnSpc>
                <a:spcPct val="100000"/>
              </a:lnSpc>
              <a:spcBef>
                <a:spcPts val="0"/>
              </a:spcBef>
              <a:buNone/>
              <a:defRPr sz="7063">
                <a:solidFill>
                  <a:schemeClr val="tx1">
                    <a:lumMod val="95000"/>
                    <a:lumOff val="5000"/>
                  </a:schemeClr>
                </a:solidFill>
              </a:defRPr>
            </a:lvl1pPr>
            <a:lvl2pPr marL="2018355" indent="0" algn="ctr">
              <a:buNone/>
              <a:defRPr sz="7063"/>
            </a:lvl2pPr>
            <a:lvl3pPr marL="4036710" indent="0" algn="ctr">
              <a:buNone/>
              <a:defRPr sz="7063"/>
            </a:lvl3pPr>
            <a:lvl4pPr marL="6055065" indent="0" algn="ctr">
              <a:buNone/>
              <a:defRPr sz="7063"/>
            </a:lvl4pPr>
            <a:lvl5pPr marL="8073420" indent="0" algn="ctr">
              <a:buNone/>
              <a:defRPr sz="7063"/>
            </a:lvl5pPr>
            <a:lvl6pPr marL="10091776" indent="0" algn="ctr">
              <a:buNone/>
              <a:defRPr sz="7063"/>
            </a:lvl6pPr>
            <a:lvl7pPr marL="12110131" indent="0" algn="ctr">
              <a:buNone/>
              <a:defRPr sz="7063"/>
            </a:lvl7pPr>
            <a:lvl8pPr marL="14128486" indent="0" algn="ctr">
              <a:buNone/>
              <a:defRPr sz="7063"/>
            </a:lvl8pPr>
            <a:lvl9pPr marL="16146841" indent="0" algn="ctr">
              <a:buNone/>
              <a:defRPr sz="706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26611-6281-4E11-ACC2-85FA96A0667E}"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758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C2F9BE-EEBC-49BD-8E1A-7AE886ED32A9}" type="slidenum">
              <a:rPr lang="en-US" smtClean="0"/>
              <a:pPr/>
              <a:t>‹#›</a:t>
            </a:fld>
            <a:endParaRPr lang="en-US"/>
          </a:p>
        </p:txBody>
      </p:sp>
    </p:spTree>
    <p:extLst>
      <p:ext uri="{BB962C8B-B14F-4D97-AF65-F5344CB8AC3E}">
        <p14:creationId xmlns:p14="http://schemas.microsoft.com/office/powerpoint/2010/main" val="1155846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Freeform 10"/>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05141" y="21896939"/>
            <a:ext cx="27287399" cy="6458712"/>
          </a:xfrm>
        </p:spPr>
        <p:txBody>
          <a:bodyPr anchor="ctr">
            <a:normAutofit/>
          </a:bodyPr>
          <a:lstStyle>
            <a:lvl1pPr algn="r">
              <a:defRPr sz="19424" b="0" spc="883" baseline="0"/>
            </a:lvl1pPr>
          </a:lstStyle>
          <a:p>
            <a:r>
              <a:rPr lang="en-US"/>
              <a:t>Click to edit Master title style</a:t>
            </a:r>
            <a:endParaRPr lang="en-US" dirty="0"/>
          </a:p>
        </p:txBody>
      </p:sp>
      <p:sp>
        <p:nvSpPr>
          <p:cNvPr id="3" name="Text Placeholder 2"/>
          <p:cNvSpPr>
            <a:spLocks noGrp="1"/>
          </p:cNvSpPr>
          <p:nvPr>
            <p:ph type="body" idx="1"/>
          </p:nvPr>
        </p:nvSpPr>
        <p:spPr>
          <a:xfrm>
            <a:off x="30230158" y="21896939"/>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2018355" indent="0">
              <a:buNone/>
              <a:defRPr sz="7063">
                <a:solidFill>
                  <a:schemeClr val="tx1">
                    <a:tint val="75000"/>
                  </a:schemeClr>
                </a:solidFill>
              </a:defRPr>
            </a:lvl2pPr>
            <a:lvl3pPr marL="4036710" indent="0">
              <a:buNone/>
              <a:defRPr sz="7063">
                <a:solidFill>
                  <a:schemeClr val="tx1">
                    <a:tint val="75000"/>
                  </a:schemeClr>
                </a:solidFill>
              </a:defRPr>
            </a:lvl3pPr>
            <a:lvl4pPr marL="6055065" indent="0">
              <a:buNone/>
              <a:defRPr sz="6180">
                <a:solidFill>
                  <a:schemeClr val="tx1">
                    <a:tint val="75000"/>
                  </a:schemeClr>
                </a:solidFill>
              </a:defRPr>
            </a:lvl4pPr>
            <a:lvl5pPr marL="8073420" indent="0">
              <a:buNone/>
              <a:defRPr sz="6180">
                <a:solidFill>
                  <a:schemeClr val="tx1">
                    <a:tint val="75000"/>
                  </a:schemeClr>
                </a:solidFill>
              </a:defRPr>
            </a:lvl5pPr>
            <a:lvl6pPr marL="10091776" indent="0">
              <a:buNone/>
              <a:defRPr sz="6180">
                <a:solidFill>
                  <a:schemeClr val="tx1">
                    <a:tint val="75000"/>
                  </a:schemeClr>
                </a:solidFill>
              </a:defRPr>
            </a:lvl6pPr>
            <a:lvl7pPr marL="12110131" indent="0">
              <a:buNone/>
              <a:defRPr sz="6180">
                <a:solidFill>
                  <a:schemeClr val="tx1">
                    <a:tint val="75000"/>
                  </a:schemeClr>
                </a:solidFill>
              </a:defRPr>
            </a:lvl7pPr>
            <a:lvl8pPr marL="14128486" indent="0">
              <a:buNone/>
              <a:defRPr sz="6180">
                <a:solidFill>
                  <a:schemeClr val="tx1">
                    <a:tint val="75000"/>
                  </a:schemeClr>
                </a:solidFill>
              </a:defRPr>
            </a:lvl8pPr>
            <a:lvl9pPr marL="16146841" indent="0">
              <a:buNone/>
              <a:defRPr sz="61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08A6160-4A93-488B-A9E6-8C2E2E63CD41}"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447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595516"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1027348"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A4B941-E056-4AF9-AA8C-9C277416A4DB}" type="slidenum">
              <a:rPr lang="en-US" smtClean="0"/>
              <a:pPr/>
              <a:t>‹#›</a:t>
            </a:fld>
            <a:endParaRPr lang="en-US"/>
          </a:p>
        </p:txBody>
      </p:sp>
    </p:spTree>
    <p:extLst>
      <p:ext uri="{BB962C8B-B14F-4D97-AF65-F5344CB8AC3E}">
        <p14:creationId xmlns:p14="http://schemas.microsoft.com/office/powerpoint/2010/main" val="4199167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95516" y="9622185"/>
            <a:ext cx="16693468" cy="3633026"/>
          </a:xfrm>
        </p:spPr>
        <p:txBody>
          <a:bodyPr lIns="137160" rIns="137160" anchor="ctr">
            <a:normAutofit/>
          </a:bodyPr>
          <a:lstStyle>
            <a:lvl1pPr marL="0" indent="0">
              <a:spcBef>
                <a:spcPts val="0"/>
              </a:spcBef>
              <a:spcAft>
                <a:spcPts val="0"/>
              </a:spcAft>
              <a:buNone/>
              <a:defRPr sz="9712" b="0" cap="none" baseline="0">
                <a:solidFill>
                  <a:schemeClr val="accent1"/>
                </a:solidFill>
                <a:latin typeface="+mn-lt"/>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lvl="0"/>
            <a:r>
              <a:rPr lang="en-US"/>
              <a:t>Click to edit Master text styles</a:t>
            </a:r>
          </a:p>
        </p:txBody>
      </p:sp>
      <p:sp>
        <p:nvSpPr>
          <p:cNvPr id="4" name="Content Placeholder 3"/>
          <p:cNvSpPr>
            <a:spLocks noGrp="1"/>
          </p:cNvSpPr>
          <p:nvPr>
            <p:ph sz="half" idx="2"/>
          </p:nvPr>
        </p:nvSpPr>
        <p:spPr>
          <a:xfrm>
            <a:off x="3595516"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1027348" y="9622185"/>
            <a:ext cx="16693468" cy="3633026"/>
          </a:xfrm>
        </p:spPr>
        <p:txBody>
          <a:bodyPr lIns="137160" rIns="137160" anchor="ctr">
            <a:normAutofit/>
          </a:bodyPr>
          <a:lstStyle>
            <a:lvl1pPr marL="0" indent="0">
              <a:spcBef>
                <a:spcPts val="0"/>
              </a:spcBef>
              <a:spcAft>
                <a:spcPts val="0"/>
              </a:spcAft>
              <a:buNone/>
              <a:defRPr lang="en-US" sz="9712" b="0" kern="1200" cap="none" baseline="0" dirty="0">
                <a:solidFill>
                  <a:schemeClr val="accent1"/>
                </a:solidFill>
                <a:latin typeface="+mn-lt"/>
                <a:ea typeface="+mn-ea"/>
                <a:cs typeface="+mn-cs"/>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marL="0" lvl="0" indent="0" algn="l" defTabSz="4036710" rtl="0" eaLnBrk="1" latinLnBrk="0" hangingPunct="1">
              <a:lnSpc>
                <a:spcPct val="90000"/>
              </a:lnSpc>
              <a:spcBef>
                <a:spcPts val="7946"/>
              </a:spcBef>
              <a:buNone/>
            </a:pPr>
            <a:r>
              <a:rPr lang="en-US"/>
              <a:t>Click to edit Master text styles</a:t>
            </a:r>
          </a:p>
        </p:txBody>
      </p:sp>
      <p:sp>
        <p:nvSpPr>
          <p:cNvPr id="6" name="Content Placeholder 5"/>
          <p:cNvSpPr>
            <a:spLocks noGrp="1"/>
          </p:cNvSpPr>
          <p:nvPr>
            <p:ph sz="quarter" idx="4"/>
          </p:nvPr>
        </p:nvSpPr>
        <p:spPr>
          <a:xfrm>
            <a:off x="21027348"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383DB79-11A9-41C9-A61C-5E0AA3823438}" type="slidenum">
              <a:rPr lang="en-US" smtClean="0"/>
              <a:pPr/>
              <a:t>‹#›</a:t>
            </a:fld>
            <a:endParaRPr lang="en-US"/>
          </a:p>
        </p:txBody>
      </p:sp>
    </p:spTree>
    <p:extLst>
      <p:ext uri="{BB962C8B-B14F-4D97-AF65-F5344CB8AC3E}">
        <p14:creationId xmlns:p14="http://schemas.microsoft.com/office/powerpoint/2010/main" val="3502461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BB18EB-E426-44ED-BD9E-4B9D75DA5187}" type="slidenum">
              <a:rPr lang="en-US" smtClean="0"/>
              <a:pPr/>
              <a:t>‹#›</a:t>
            </a:fld>
            <a:endParaRPr lang="en-US"/>
          </a:p>
        </p:txBody>
      </p:sp>
    </p:spTree>
    <p:extLst>
      <p:ext uri="{BB962C8B-B14F-4D97-AF65-F5344CB8AC3E}">
        <p14:creationId xmlns:p14="http://schemas.microsoft.com/office/powerpoint/2010/main" val="712346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4/27/26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Rectangle 4">
            <a:extLst>
              <a:ext uri="{FF2B5EF4-FFF2-40B4-BE49-F238E27FC236}">
                <a16:creationId xmlns:a16="http://schemas.microsoft.com/office/drawing/2014/main" id="{57BFF6F7-99F5-F38D-F253-00622D19EDC3}"/>
              </a:ext>
            </a:extLst>
          </p:cNvPr>
          <p:cNvSpPr/>
          <p:nvPr userDrawn="1"/>
        </p:nvSpPr>
        <p:spPr bwMode="auto">
          <a:xfrm>
            <a:off x="0" y="0"/>
            <a:ext cx="42803763" cy="4263977"/>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a:endParaRPr>
          </a:p>
        </p:txBody>
      </p:sp>
      <p:pic>
        <p:nvPicPr>
          <p:cNvPr id="6" name="Picture 5">
            <a:extLst>
              <a:ext uri="{FF2B5EF4-FFF2-40B4-BE49-F238E27FC236}">
                <a16:creationId xmlns:a16="http://schemas.microsoft.com/office/drawing/2014/main" id="{8B74DFDB-8A11-7492-E289-7C087D99DC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7695" y="1096046"/>
            <a:ext cx="6221079" cy="2088232"/>
          </a:xfrm>
          <a:prstGeom prst="rect">
            <a:avLst/>
          </a:prstGeom>
        </p:spPr>
      </p:pic>
    </p:spTree>
    <p:extLst>
      <p:ext uri="{BB962C8B-B14F-4D97-AF65-F5344CB8AC3E}">
        <p14:creationId xmlns:p14="http://schemas.microsoft.com/office/powerpoint/2010/main" val="1715995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3595516" y="2081516"/>
            <a:ext cx="15409355" cy="7669721"/>
          </a:xfrm>
        </p:spPr>
        <p:txBody>
          <a:bodyPr>
            <a:noAutofit/>
          </a:bodyPr>
          <a:lstStyle>
            <a:lvl1pPr>
              <a:lnSpc>
                <a:spcPct val="80000"/>
              </a:lnSpc>
              <a:defRPr sz="15893"/>
            </a:lvl1pPr>
          </a:lstStyle>
          <a:p>
            <a:r>
              <a:rPr lang="en-US"/>
              <a:t>Click to edit Master title style</a:t>
            </a:r>
            <a:endParaRPr lang="en-US" dirty="0"/>
          </a:p>
        </p:txBody>
      </p:sp>
      <p:sp>
        <p:nvSpPr>
          <p:cNvPr id="3" name="Content Placeholder 2"/>
          <p:cNvSpPr>
            <a:spLocks noGrp="1"/>
          </p:cNvSpPr>
          <p:nvPr>
            <p:ph idx="1"/>
          </p:nvPr>
        </p:nvSpPr>
        <p:spPr>
          <a:xfrm>
            <a:off x="20064264" y="3633026"/>
            <a:ext cx="19935853" cy="22888061"/>
          </a:xfrm>
        </p:spPr>
        <p:txBody>
          <a:bodyPr>
            <a:normAutofit/>
          </a:bodyPr>
          <a:lstStyle>
            <a:lvl1pPr>
              <a:defRPr sz="8829"/>
            </a:lvl1pPr>
            <a:lvl2pPr>
              <a:defRPr sz="7063"/>
            </a:lvl2pPr>
            <a:lvl3pPr>
              <a:defRPr sz="5298"/>
            </a:lvl3pPr>
            <a:lvl4pPr>
              <a:defRPr sz="5298"/>
            </a:lvl4pPr>
            <a:lvl5pPr>
              <a:defRPr sz="5298"/>
            </a:lvl5pPr>
            <a:lvl6pPr>
              <a:defRPr sz="5298"/>
            </a:lvl6pPr>
            <a:lvl7pPr>
              <a:defRPr sz="5298"/>
            </a:lvl7pPr>
            <a:lvl8pPr>
              <a:defRPr sz="5298"/>
            </a:lvl8pPr>
            <a:lvl9pPr>
              <a:defRPr sz="52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95516" y="9965948"/>
            <a:ext cx="15409355" cy="16608961"/>
          </a:xfrm>
        </p:spPr>
        <p:txBody>
          <a:bodyPr lIns="91440" rIns="91440">
            <a:normAutofit/>
          </a:bodyPr>
          <a:lstStyle>
            <a:lvl1pPr marL="0" indent="0">
              <a:lnSpc>
                <a:spcPct val="108000"/>
              </a:lnSpc>
              <a:spcBef>
                <a:spcPts val="2649"/>
              </a:spcBef>
              <a:buNone/>
              <a:defRPr sz="7063"/>
            </a:lvl1pPr>
            <a:lvl2pPr marL="2018355" indent="0">
              <a:buNone/>
              <a:defRPr sz="5298"/>
            </a:lvl2pPr>
            <a:lvl3pPr marL="4036710" indent="0">
              <a:buNone/>
              <a:defRPr sz="4415"/>
            </a:lvl3pPr>
            <a:lvl4pPr marL="6055065" indent="0">
              <a:buNone/>
              <a:defRPr sz="3973"/>
            </a:lvl4pPr>
            <a:lvl5pPr marL="8073420" indent="0">
              <a:buNone/>
              <a:defRPr sz="3973"/>
            </a:lvl5pPr>
            <a:lvl6pPr marL="10091776" indent="0">
              <a:buNone/>
              <a:defRPr sz="3973"/>
            </a:lvl6pPr>
            <a:lvl7pPr marL="12110131" indent="0">
              <a:buNone/>
              <a:defRPr sz="3973"/>
            </a:lvl7pPr>
            <a:lvl8pPr marL="14128486" indent="0">
              <a:buNone/>
              <a:defRPr sz="3973"/>
            </a:lvl8pPr>
            <a:lvl9pPr marL="16146841" indent="0">
              <a:buNone/>
              <a:defRPr sz="3973"/>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B32D5B-236E-43FE-958A-93A926CB8AE9}" type="slidenum">
              <a:rPr lang="en-US" smtClean="0"/>
              <a:pPr/>
              <a:t>‹#›</a:t>
            </a:fld>
            <a:endParaRPr lang="en-US"/>
          </a:p>
        </p:txBody>
      </p:sp>
    </p:spTree>
    <p:extLst>
      <p:ext uri="{BB962C8B-B14F-4D97-AF65-F5344CB8AC3E}">
        <p14:creationId xmlns:p14="http://schemas.microsoft.com/office/powerpoint/2010/main" val="99254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05141" y="21896943"/>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4"/>
            <a:ext cx="42793062" cy="20183475"/>
          </a:xfrm>
          <a:solidFill>
            <a:schemeClr val="accent1">
              <a:lumMod val="60000"/>
              <a:lumOff val="40000"/>
            </a:schemeClr>
          </a:solidFill>
        </p:spPr>
        <p:txBody>
          <a:bodyPr lIns="457200" tIns="365760" anchor="t"/>
          <a:lstStyle>
            <a:lvl1pPr marL="0" indent="0">
              <a:buNone/>
              <a:defRPr sz="10595"/>
            </a:lvl1pPr>
            <a:lvl2pPr marL="1513766" indent="0">
              <a:buNone/>
              <a:defRPr sz="9271"/>
            </a:lvl2pPr>
            <a:lvl3pPr marL="3027533" indent="0">
              <a:buNone/>
              <a:defRPr sz="7946"/>
            </a:lvl3pPr>
            <a:lvl4pPr marL="4541299" indent="0">
              <a:buNone/>
              <a:defRPr sz="6622"/>
            </a:lvl4pPr>
            <a:lvl5pPr marL="6055065" indent="0">
              <a:buNone/>
              <a:defRPr sz="6622"/>
            </a:lvl5pPr>
            <a:lvl6pPr marL="7568832" indent="0">
              <a:buNone/>
              <a:defRPr sz="6622"/>
            </a:lvl6pPr>
            <a:lvl7pPr marL="9082598" indent="0">
              <a:buNone/>
              <a:defRPr sz="6622"/>
            </a:lvl7pPr>
            <a:lvl8pPr marL="10596364" indent="0">
              <a:buNone/>
              <a:defRPr sz="6622"/>
            </a:lvl8pPr>
            <a:lvl9pPr marL="12110131"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30230158" y="21896943"/>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1513766" indent="0">
              <a:buNone/>
              <a:defRPr sz="4635"/>
            </a:lvl2pPr>
            <a:lvl3pPr marL="3027533" indent="0">
              <a:buNone/>
              <a:defRPr sz="3973"/>
            </a:lvl3pPr>
            <a:lvl4pPr marL="4541299" indent="0">
              <a:buNone/>
              <a:defRPr sz="3311"/>
            </a:lvl4pPr>
            <a:lvl5pPr marL="6055065" indent="0">
              <a:buNone/>
              <a:defRPr sz="3311"/>
            </a:lvl5pPr>
            <a:lvl6pPr marL="7568832" indent="0">
              <a:buNone/>
              <a:defRPr sz="3311"/>
            </a:lvl6pPr>
            <a:lvl7pPr marL="9082598" indent="0">
              <a:buNone/>
              <a:defRPr sz="3311"/>
            </a:lvl7pPr>
            <a:lvl8pPr marL="10596364" indent="0">
              <a:buNone/>
              <a:defRPr sz="3311"/>
            </a:lvl8pPr>
            <a:lvl9pPr marL="12110131"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5CDC239-2C65-44BE-8AF1-96B5E4802A3F}"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777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001956-8B40-46A1-B63C-7ACD83FEB396}" type="slidenum">
              <a:rPr lang="en-US" smtClean="0"/>
              <a:pPr/>
              <a:t>‹#›</a:t>
            </a:fld>
            <a:endParaRPr lang="en-US"/>
          </a:p>
        </p:txBody>
      </p:sp>
    </p:spTree>
    <p:extLst>
      <p:ext uri="{BB962C8B-B14F-4D97-AF65-F5344CB8AC3E}">
        <p14:creationId xmlns:p14="http://schemas.microsoft.com/office/powerpoint/2010/main" val="468787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631450" y="3363913"/>
            <a:ext cx="9229561" cy="23883779"/>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3477813" y="3363913"/>
            <a:ext cx="26618590" cy="238837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5BEDB0-F9BA-4179-BEBF-8DBF122176E3}" type="slidenum">
              <a:rPr lang="en-US" smtClean="0"/>
              <a:pPr/>
              <a:t>‹#›</a:t>
            </a:fld>
            <a:endParaRPr lang="en-US"/>
          </a:p>
        </p:txBody>
      </p:sp>
      <p:cxnSp>
        <p:nvCxnSpPr>
          <p:cNvPr id="7" name="Straight Connector 6"/>
          <p:cNvCxnSpPr/>
          <p:nvPr/>
        </p:nvCxnSpPr>
        <p:spPr>
          <a:xfrm rot="5400000" flipV="1">
            <a:off x="35313104" y="674828"/>
            <a:ext cx="0" cy="321028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7714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95516" y="2583485"/>
            <a:ext cx="34125300" cy="662018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95518" y="10091738"/>
            <a:ext cx="34125305" cy="1776145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95523" y="28565462"/>
            <a:ext cx="7562780"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endParaRPr lang="en-US"/>
          </a:p>
        </p:txBody>
      </p:sp>
      <p:sp>
        <p:nvSpPr>
          <p:cNvPr id="5" name="Footer Placeholder 4"/>
          <p:cNvSpPr>
            <a:spLocks noGrp="1"/>
          </p:cNvSpPr>
          <p:nvPr>
            <p:ph type="ftr" sz="quarter" idx="3"/>
          </p:nvPr>
        </p:nvSpPr>
        <p:spPr>
          <a:xfrm>
            <a:off x="17002606" y="28565462"/>
            <a:ext cx="20718884" cy="1211009"/>
          </a:xfrm>
          <a:prstGeom prst="rect">
            <a:avLst/>
          </a:prstGeom>
        </p:spPr>
        <p:txBody>
          <a:bodyPr vert="horz" lIns="91440" tIns="45720" rIns="91440" bIns="45720" rtlCol="0" anchor="ctr"/>
          <a:lstStyle>
            <a:lvl1pPr algn="r">
              <a:defRPr sz="4415"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38047789" y="28565462"/>
            <a:ext cx="3418356"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fld id="{97B7DC7E-A1F9-4C29-9F26-BFA0A3B2EA8F}" type="slidenum">
              <a:rPr lang="en-US" smtClean="0"/>
              <a:pPr/>
              <a:t>‹#›</a:t>
            </a:fld>
            <a:endParaRPr lang="en-US"/>
          </a:p>
        </p:txBody>
      </p:sp>
      <p:cxnSp>
        <p:nvCxnSpPr>
          <p:cNvPr id="7" name="Straight Connector 6"/>
          <p:cNvCxnSpPr/>
          <p:nvPr/>
        </p:nvCxnSpPr>
        <p:spPr>
          <a:xfrm flipV="1">
            <a:off x="2675235" y="3647876"/>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10281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4036710" rtl="0" eaLnBrk="1" latinLnBrk="0" hangingPunct="1">
        <a:lnSpc>
          <a:spcPct val="80000"/>
        </a:lnSpc>
        <a:spcBef>
          <a:spcPct val="0"/>
        </a:spcBef>
        <a:buNone/>
        <a:defRPr sz="19424" kern="1200" cap="all" spc="441" baseline="0">
          <a:solidFill>
            <a:schemeClr val="tx1">
              <a:lumMod val="95000"/>
              <a:lumOff val="5000"/>
            </a:schemeClr>
          </a:solidFill>
          <a:latin typeface="+mj-lt"/>
          <a:ea typeface="+mj-ea"/>
          <a:cs typeface="+mj-cs"/>
        </a:defRPr>
      </a:lvl1pPr>
    </p:titleStyle>
    <p:bodyStyle>
      <a:lvl1pPr marL="403671" indent="-403671" algn="l" defTabSz="4036710" rtl="0" eaLnBrk="1" latinLnBrk="0" hangingPunct="1">
        <a:lnSpc>
          <a:spcPct val="90000"/>
        </a:lnSpc>
        <a:spcBef>
          <a:spcPts val="5298"/>
        </a:spcBef>
        <a:spcAft>
          <a:spcPts val="883"/>
        </a:spcAft>
        <a:buClr>
          <a:schemeClr val="accent1"/>
        </a:buClr>
        <a:buSzPct val="100000"/>
        <a:buFont typeface="Tw Cen MT" panose="020B0602020104020603" pitchFamily="34" charset="0"/>
        <a:buChar char=" "/>
        <a:defRPr sz="8829" kern="1200">
          <a:solidFill>
            <a:schemeClr val="tx1"/>
          </a:solidFill>
          <a:latin typeface="+mn-lt"/>
          <a:ea typeface="+mn-ea"/>
          <a:cs typeface="+mn-cs"/>
        </a:defRPr>
      </a:lvl1pPr>
      <a:lvl2pPr marL="1170646"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7063" kern="1200">
          <a:solidFill>
            <a:schemeClr val="tx1"/>
          </a:solidFill>
          <a:latin typeface="+mn-lt"/>
          <a:ea typeface="+mn-ea"/>
          <a:cs typeface="+mn-cs"/>
        </a:defRPr>
      </a:lvl2pPr>
      <a:lvl3pPr marL="197798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3pPr>
      <a:lvl4pPr marL="2623862"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4pPr>
      <a:lvl5pPr marL="343120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5pPr>
      <a:lvl6pPr marL="4036710"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6pPr>
      <a:lvl7pPr marL="468258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7pPr>
      <a:lvl8pPr marL="5368825"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8pPr>
      <a:lvl9pPr marL="601469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9pPr>
    </p:bodyStyle>
    <p:otherStyle>
      <a:defPPr>
        <a:defRPr lang="en-US"/>
      </a:defPPr>
      <a:lvl1pPr marL="0" algn="l" defTabSz="4036710" rtl="0" eaLnBrk="1" latinLnBrk="0" hangingPunct="1">
        <a:defRPr sz="7946" kern="1200">
          <a:solidFill>
            <a:schemeClr val="tx1"/>
          </a:solidFill>
          <a:latin typeface="+mn-lt"/>
          <a:ea typeface="+mn-ea"/>
          <a:cs typeface="+mn-cs"/>
        </a:defRPr>
      </a:lvl1pPr>
      <a:lvl2pPr marL="2018355" algn="l" defTabSz="4036710" rtl="0" eaLnBrk="1" latinLnBrk="0" hangingPunct="1">
        <a:defRPr sz="7946" kern="1200">
          <a:solidFill>
            <a:schemeClr val="tx1"/>
          </a:solidFill>
          <a:latin typeface="+mn-lt"/>
          <a:ea typeface="+mn-ea"/>
          <a:cs typeface="+mn-cs"/>
        </a:defRPr>
      </a:lvl2pPr>
      <a:lvl3pPr marL="4036710" algn="l" defTabSz="4036710" rtl="0" eaLnBrk="1" latinLnBrk="0" hangingPunct="1">
        <a:defRPr sz="7946" kern="1200">
          <a:solidFill>
            <a:schemeClr val="tx1"/>
          </a:solidFill>
          <a:latin typeface="+mn-lt"/>
          <a:ea typeface="+mn-ea"/>
          <a:cs typeface="+mn-cs"/>
        </a:defRPr>
      </a:lvl3pPr>
      <a:lvl4pPr marL="6055065" algn="l" defTabSz="4036710" rtl="0" eaLnBrk="1" latinLnBrk="0" hangingPunct="1">
        <a:defRPr sz="7946" kern="1200">
          <a:solidFill>
            <a:schemeClr val="tx1"/>
          </a:solidFill>
          <a:latin typeface="+mn-lt"/>
          <a:ea typeface="+mn-ea"/>
          <a:cs typeface="+mn-cs"/>
        </a:defRPr>
      </a:lvl4pPr>
      <a:lvl5pPr marL="8073420" algn="l" defTabSz="4036710" rtl="0" eaLnBrk="1" latinLnBrk="0" hangingPunct="1">
        <a:defRPr sz="7946" kern="1200">
          <a:solidFill>
            <a:schemeClr val="tx1"/>
          </a:solidFill>
          <a:latin typeface="+mn-lt"/>
          <a:ea typeface="+mn-ea"/>
          <a:cs typeface="+mn-cs"/>
        </a:defRPr>
      </a:lvl5pPr>
      <a:lvl6pPr marL="10091776" algn="l" defTabSz="4036710" rtl="0" eaLnBrk="1" latinLnBrk="0" hangingPunct="1">
        <a:defRPr sz="7946" kern="1200">
          <a:solidFill>
            <a:schemeClr val="tx1"/>
          </a:solidFill>
          <a:latin typeface="+mn-lt"/>
          <a:ea typeface="+mn-ea"/>
          <a:cs typeface="+mn-cs"/>
        </a:defRPr>
      </a:lvl6pPr>
      <a:lvl7pPr marL="12110131" algn="l" defTabSz="4036710" rtl="0" eaLnBrk="1" latinLnBrk="0" hangingPunct="1">
        <a:defRPr sz="7946" kern="1200">
          <a:solidFill>
            <a:schemeClr val="tx1"/>
          </a:solidFill>
          <a:latin typeface="+mn-lt"/>
          <a:ea typeface="+mn-ea"/>
          <a:cs typeface="+mn-cs"/>
        </a:defRPr>
      </a:lvl7pPr>
      <a:lvl8pPr marL="14128486" algn="l" defTabSz="4036710" rtl="0" eaLnBrk="1" latinLnBrk="0" hangingPunct="1">
        <a:defRPr sz="7946" kern="1200">
          <a:solidFill>
            <a:schemeClr val="tx1"/>
          </a:solidFill>
          <a:latin typeface="+mn-lt"/>
          <a:ea typeface="+mn-ea"/>
          <a:cs typeface="+mn-cs"/>
        </a:defRPr>
      </a:lvl8pPr>
      <a:lvl9pPr marL="16146841" algn="l" defTabSz="4036710" rtl="0" eaLnBrk="1" latinLnBrk="0" hangingPunct="1">
        <a:defRPr sz="794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AF4"/>
        </a:solidFill>
        <a:effectLst/>
      </p:bgPr>
    </p:bg>
    <p:spTree>
      <p:nvGrpSpPr>
        <p:cNvPr id="1" name=""/>
        <p:cNvGrpSpPr/>
        <p:nvPr/>
      </p:nvGrpSpPr>
      <p:grpSpPr>
        <a:xfrm>
          <a:off x="0" y="0"/>
          <a:ext cx="0" cy="0"/>
          <a:chOff x="0" y="0"/>
          <a:chExt cx="0" cy="0"/>
        </a:xfrm>
      </p:grpSpPr>
      <p:sp>
        <p:nvSpPr>
          <p:cNvPr id="95" name="Rectangle 7"/>
          <p:cNvSpPr>
            <a:spLocks noChangeArrowheads="1"/>
          </p:cNvSpPr>
          <p:nvPr/>
        </p:nvSpPr>
        <p:spPr bwMode="auto">
          <a:xfrm>
            <a:off x="32219087" y="27090934"/>
            <a:ext cx="10008000" cy="2772802"/>
          </a:xfrm>
          <a:prstGeom prst="rect">
            <a:avLst/>
          </a:prstGeom>
          <a:solidFill>
            <a:srgbClr val="D1E2F2"/>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1400" dirty="0"/>
              <a:t>[12]</a:t>
            </a:r>
          </a:p>
          <a:p>
            <a:r>
              <a:rPr lang="en-GB" sz="1400" dirty="0"/>
              <a:t>R. </a:t>
            </a:r>
            <a:r>
              <a:rPr lang="en-GB" sz="1400" dirty="0" err="1"/>
              <a:t>Alrawili</a:t>
            </a:r>
            <a:r>
              <a:rPr lang="en-GB" sz="1400" dirty="0"/>
              <a:t>, A. A. S. AlQahtani, and M. K. Khan, “Comprehensive survey: Biometric user authentication application, evaluation, and discussion,” </a:t>
            </a:r>
            <a:r>
              <a:rPr lang="en-GB" sz="1400" i="1" dirty="0"/>
              <a:t>Computers and Electrical Engineering</a:t>
            </a:r>
            <a:r>
              <a:rPr lang="en-GB" sz="1400" dirty="0"/>
              <a:t>, vol. 119, no. A, p. 109485, Oct. 2024, </a:t>
            </a:r>
            <a:r>
              <a:rPr lang="en-GB" sz="1400" dirty="0" err="1"/>
              <a:t>doi</a:t>
            </a:r>
            <a:r>
              <a:rPr lang="en-GB" sz="1400" dirty="0"/>
              <a:t>: </a:t>
            </a:r>
          </a:p>
          <a:p>
            <a:r>
              <a:rPr lang="en-GB" sz="1400" dirty="0"/>
              <a:t>[19]</a:t>
            </a:r>
          </a:p>
          <a:p>
            <a:r>
              <a:rPr lang="en-GB" sz="1400" dirty="0"/>
              <a:t>A. Devasia, “Biometric Access Control System Price: Full Guide (2024),” </a:t>
            </a:r>
            <a:r>
              <a:rPr lang="en-GB" sz="1400" i="1" dirty="0"/>
              <a:t>Safe and Sound Security</a:t>
            </a:r>
            <a:r>
              <a:rPr lang="en-GB" sz="1400" dirty="0"/>
              <a:t>, May 29, 2024. https://</a:t>
            </a:r>
            <a:r>
              <a:rPr lang="en-GB" sz="1400" dirty="0" err="1"/>
              <a:t>getsafeandsound.com</a:t>
            </a:r>
            <a:r>
              <a:rPr lang="en-GB" sz="1400" dirty="0"/>
              <a:t>/blog/biometric-access-control-system-price/</a:t>
            </a:r>
          </a:p>
          <a:p>
            <a:r>
              <a:rPr lang="en-GB" sz="1400" dirty="0"/>
              <a:t>[7]</a:t>
            </a:r>
          </a:p>
          <a:p>
            <a:r>
              <a:rPr lang="en-GB" sz="1400" dirty="0"/>
              <a:t>E. Hill, M. Sobolewska, S. Wilks-Heeg, and M. Borkowska, “Explaining electoral fraud in an advanced democracy: Fraud vulnerabilities, opportunities and facilitating mechanisms in British elections,” </a:t>
            </a:r>
            <a:r>
              <a:rPr lang="en-GB" sz="1400" i="1" dirty="0"/>
              <a:t>The British Journal of Politics and International Relations</a:t>
            </a:r>
            <a:r>
              <a:rPr lang="en-GB" sz="1400" dirty="0"/>
              <a:t>, vol. 19, no. 4, pp. 772–789, Jun. 2017, </a:t>
            </a:r>
            <a:r>
              <a:rPr lang="en-GB" sz="1400" dirty="0" err="1"/>
              <a:t>doi</a:t>
            </a:r>
            <a:r>
              <a:rPr lang="en-GB" sz="1400" dirty="0"/>
              <a:t>: https://</a:t>
            </a:r>
            <a:r>
              <a:rPr lang="en-GB" sz="1400" dirty="0" err="1"/>
              <a:t>doi.org</a:t>
            </a:r>
            <a:r>
              <a:rPr lang="en-GB" sz="1400" dirty="0"/>
              <a:t>/10.1177/1369148117715222.</a:t>
            </a:r>
          </a:p>
        </p:txBody>
      </p:sp>
      <p:sp>
        <p:nvSpPr>
          <p:cNvPr id="96" name="Rectangle 38"/>
          <p:cNvSpPr>
            <a:spLocks noChangeArrowheads="1"/>
          </p:cNvSpPr>
          <p:nvPr/>
        </p:nvSpPr>
        <p:spPr bwMode="auto">
          <a:xfrm>
            <a:off x="32219086" y="25761446"/>
            <a:ext cx="10008000" cy="1440000"/>
          </a:xfrm>
          <a:prstGeom prst="rect">
            <a:avLst/>
          </a:prstGeom>
          <a:solidFill>
            <a:srgbClr val="D1E2F2"/>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References</a:t>
            </a:r>
          </a:p>
        </p:txBody>
      </p:sp>
      <p:sp>
        <p:nvSpPr>
          <p:cNvPr id="97" name="Rectangle 7"/>
          <p:cNvSpPr>
            <a:spLocks noChangeArrowheads="1"/>
          </p:cNvSpPr>
          <p:nvPr/>
        </p:nvSpPr>
        <p:spPr bwMode="auto">
          <a:xfrm>
            <a:off x="21671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3200" dirty="0">
                <a:solidFill>
                  <a:srgbClr val="464646"/>
                </a:solidFill>
                <a:latin typeface="Calibri" charset="0"/>
                <a:ea typeface="Calibri" charset="0"/>
                <a:cs typeface="Calibri" charset="0"/>
              </a:rPr>
              <a:t>The user interface was designed to be intuitive and easy to use. A focus on minimalizing input was used to keep user flow simple and to limit the attack surface </a:t>
            </a:r>
          </a:p>
        </p:txBody>
      </p:sp>
      <p:sp>
        <p:nvSpPr>
          <p:cNvPr id="98" name="Rectangle 38"/>
          <p:cNvSpPr>
            <a:spLocks noChangeArrowheads="1"/>
          </p:cNvSpPr>
          <p:nvPr/>
        </p:nvSpPr>
        <p:spPr bwMode="auto">
          <a:xfrm>
            <a:off x="21671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User Interface</a:t>
            </a:r>
          </a:p>
        </p:txBody>
      </p:sp>
      <p:sp>
        <p:nvSpPr>
          <p:cNvPr id="100" name="Rectangle 7"/>
          <p:cNvSpPr>
            <a:spLocks noChangeArrowheads="1"/>
          </p:cNvSpPr>
          <p:nvPr/>
        </p:nvSpPr>
        <p:spPr bwMode="auto">
          <a:xfrm>
            <a:off x="11123087" y="19050495"/>
            <a:ext cx="20556000" cy="10794505"/>
          </a:xfrm>
          <a:prstGeom prst="rect">
            <a:avLst/>
          </a:prstGeom>
          <a:solidFill>
            <a:srgbClr val="FFFFFF"/>
          </a:solidFill>
          <a:ln w="12700">
            <a:solidFill>
              <a:srgbClr val="DDD9D6"/>
            </a:solid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3600" b="1" dirty="0">
                <a:latin typeface="Calibri" panose="020F0502020204030204" pitchFamily="34" charset="0"/>
                <a:cs typeface="Calibri" panose="020F0502020204030204" pitchFamily="34" charset="0"/>
              </a:rPr>
              <a:t>Database</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anonymity enforced structurally as a vote record holds zero reference to voter identity</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Every voter’s information and fingerprint is encrypted individually using AES-256-GCM</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lookup performed without ever exposing plaintext personal data using SDI</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SDI probability of collision is 2.4×10⁻²¹ effectively eliminating duplicate identity risk</a:t>
            </a:r>
          </a:p>
          <a:p>
            <a:r>
              <a:rPr lang="en-GB" sz="3600" b="1" dirty="0">
                <a:latin typeface="Calibri" panose="020F0502020204030204" pitchFamily="34" charset="0"/>
                <a:cs typeface="Calibri" panose="020F0502020204030204" pitchFamily="34" charset="0"/>
              </a:rPr>
              <a:t>Server</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Hosted on AWS EC2 with all encryption secrets stored in AWS Secrets Manager</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Server EC2 instance is exclusively able to access encryption secrets</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Channels used to organise connections are categorised by county and constituency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Sever EC2 instance is the only IP the database is permitted to communicate with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device JWT tokens issued live for 8 hours which is the expected polling station opening times</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Potential identical twin issue handled by multiple row fingerprint comparisons </a:t>
            </a:r>
          </a:p>
          <a:p>
            <a:pPr marL="571500" indent="-571500">
              <a:buFont typeface="Arial" panose="020B0604020202020204" pitchFamily="34" charset="0"/>
              <a:buChar char="•"/>
            </a:pPr>
            <a:r>
              <a:rPr lang="en-GB" sz="3600" dirty="0" err="1">
                <a:latin typeface="Calibri" panose="020F0502020204030204" pitchFamily="34" charset="0"/>
                <a:cs typeface="Calibri" panose="020F0502020204030204" pitchFamily="34" charset="0"/>
              </a:rPr>
              <a:t>SourceAFIS</a:t>
            </a:r>
            <a:r>
              <a:rPr lang="en-GB" sz="3600" dirty="0">
                <a:latin typeface="Calibri" panose="020F0502020204030204" pitchFamily="34" charset="0"/>
                <a:cs typeface="Calibri" panose="020F0502020204030204" pitchFamily="34" charset="0"/>
              </a:rPr>
              <a:t> was used for fingerprint image comparison </a:t>
            </a:r>
          </a:p>
          <a:p>
            <a:r>
              <a:rPr lang="en-GB" sz="3600" b="1" dirty="0">
                <a:latin typeface="Calibri" panose="020F0502020204030204" pitchFamily="34" charset="0"/>
                <a:cs typeface="Calibri" panose="020F0502020204030204" pitchFamily="34" charset="0"/>
              </a:rPr>
              <a:t>Client Applications</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Apps were built using Avalonia which allows the system to run on Windows and macOS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MVVM architecture used for clean separated logic between User Interface and backend logic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Scanners Software Development Kit limited to Windows, Linux and Android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Status update are sent constantly between Voter devices and Official </a:t>
            </a:r>
          </a:p>
          <a:p>
            <a:pPr marL="571500" indent="-571500">
              <a:buFont typeface="Arial" panose="020B0604020202020204" pitchFamily="34" charset="0"/>
              <a:buChar char="•"/>
            </a:pPr>
            <a:endParaRPr lang="en-GB" sz="3600" dirty="0">
              <a:latin typeface="Calibri" panose="020F0502020204030204" pitchFamily="34" charset="0"/>
              <a:cs typeface="Calibri" panose="020F0502020204030204" pitchFamily="34" charset="0"/>
            </a:endParaRPr>
          </a:p>
        </p:txBody>
      </p:sp>
      <p:sp>
        <p:nvSpPr>
          <p:cNvPr id="101" name="Rectangle 38"/>
          <p:cNvSpPr>
            <a:spLocks noChangeArrowheads="1"/>
          </p:cNvSpPr>
          <p:nvPr/>
        </p:nvSpPr>
        <p:spPr bwMode="auto">
          <a:xfrm>
            <a:off x="11123087" y="17424383"/>
            <a:ext cx="20556000" cy="1626111"/>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Implementation</a:t>
            </a:r>
          </a:p>
        </p:txBody>
      </p:sp>
      <p:sp>
        <p:nvSpPr>
          <p:cNvPr id="102" name="Rectangle 7"/>
          <p:cNvSpPr>
            <a:spLocks noChangeArrowheads="1"/>
          </p:cNvSpPr>
          <p:nvPr/>
        </p:nvSpPr>
        <p:spPr bwMode="auto">
          <a:xfrm>
            <a:off x="32219087" y="9333394"/>
            <a:ext cx="10008000" cy="16245372"/>
          </a:xfrm>
          <a:prstGeom prst="rect">
            <a:avLst/>
          </a:prstGeom>
          <a:solidFill>
            <a:srgbClr val="C4EBD0"/>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3600" b="1" dirty="0">
                <a:latin typeface="Calibri" panose="020F0502020204030204" pitchFamily="34" charset="0"/>
                <a:cs typeface="Calibri" panose="020F0502020204030204" pitchFamily="34" charset="0"/>
              </a:rPr>
              <a:t>Evaluation of the Methodology</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The loose Agile approach proved well suited to solo development, allowing requirements to evolve without disrupting overall progress. The </a:t>
            </a:r>
            <a:r>
              <a:rPr lang="en-GB" sz="3200" dirty="0" err="1">
                <a:latin typeface="Calibri" panose="020F0502020204030204" pitchFamily="34" charset="0"/>
                <a:cs typeface="Calibri" panose="020F0502020204030204" pitchFamily="34" charset="0"/>
              </a:rPr>
              <a:t>MoSCoW</a:t>
            </a:r>
            <a:r>
              <a:rPr lang="en-GB" sz="3200" dirty="0">
                <a:latin typeface="Calibri" panose="020F0502020204030204" pitchFamily="34" charset="0"/>
                <a:cs typeface="Calibri" panose="020F0502020204030204" pitchFamily="34" charset="0"/>
              </a:rPr>
              <a:t> framework ensured core functionality was prioritised from the outset, and iterative supervisor meetings provided structured checkpoints throughout. Its greatest strength was demonstrated when the architectural switch from HTTP polling to </a:t>
            </a:r>
            <a:r>
              <a:rPr lang="en-GB" sz="3200" dirty="0" err="1">
                <a:latin typeface="Calibri" panose="020F0502020204030204" pitchFamily="34" charset="0"/>
                <a:cs typeface="Calibri" panose="020F0502020204030204" pitchFamily="34" charset="0"/>
              </a:rPr>
              <a:t>SignalR</a:t>
            </a:r>
            <a:r>
              <a:rPr lang="en-GB" sz="3200" dirty="0">
                <a:latin typeface="Calibri" panose="020F0502020204030204" pitchFamily="34" charset="0"/>
                <a:cs typeface="Calibri" panose="020F0502020204030204" pitchFamily="34" charset="0"/>
              </a:rPr>
              <a:t> was absorbed mid project without significant disruption to the broader timeline.</a:t>
            </a:r>
          </a:p>
          <a:p>
            <a:endParaRPr lang="en-GB" sz="3200" dirty="0">
              <a:latin typeface="Calibri" panose="020F0502020204030204" pitchFamily="34" charset="0"/>
              <a:cs typeface="Calibri" panose="020F0502020204030204" pitchFamily="34" charset="0"/>
            </a:endParaRPr>
          </a:p>
          <a:p>
            <a:r>
              <a:rPr lang="en-GB" sz="3600" b="1" dirty="0">
                <a:latin typeface="Calibri" panose="020F0502020204030204" pitchFamily="34" charset="0"/>
                <a:cs typeface="Calibri" panose="020F0502020204030204" pitchFamily="34" charset="0"/>
              </a:rPr>
              <a:t>Evaluation of the System</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The system successfully delivers a fingerprint authenticated voting system with structural ballot anonymity. Both rounds of user evaluation confirmed the voting process is intuitive, and the Official App improved significantly following the redesign. Key limitations remain around GDPR compliant data retention, macOS scanner compatibility, and server scalability beyond 1,000 concurrent connections.</a:t>
            </a:r>
          </a:p>
          <a:p>
            <a:endParaRPr lang="en-GB" sz="3200" dirty="0">
              <a:latin typeface="Calibri" panose="020F0502020204030204" pitchFamily="34" charset="0"/>
              <a:cs typeface="Calibri" panose="020F0502020204030204" pitchFamily="34" charset="0"/>
            </a:endParaRPr>
          </a:p>
          <a:p>
            <a:r>
              <a:rPr lang="en-GB" sz="3600" b="1" dirty="0">
                <a:latin typeface="Calibri" panose="020F0502020204030204" pitchFamily="34" charset="0"/>
                <a:cs typeface="Calibri" panose="020F0502020204030204" pitchFamily="34" charset="0"/>
              </a:rPr>
              <a:t>Conclusion</a:t>
            </a:r>
            <a:endParaRPr lang="en-GB" sz="3600" dirty="0">
              <a:latin typeface="Calibri" panose="020F0502020204030204" pitchFamily="34" charset="0"/>
              <a:cs typeface="Calibri" panose="020F0502020204030204" pitchFamily="34" charset="0"/>
            </a:endParaRPr>
          </a:p>
          <a:p>
            <a:r>
              <a:rPr lang="en-GB" sz="3200" dirty="0">
                <a:latin typeface="Calibri" panose="020F0502020204030204" pitchFamily="34" charset="0"/>
                <a:cs typeface="Calibri" panose="020F0502020204030204" pitchFamily="34" charset="0"/>
              </a:rPr>
              <a:t>This project successfully demonstrated that a fingerprint authenticated E-voting system can address the structural weaknesses of the UK's paper based voting process. Ballot anonymity is enforced by design, voter identity is verified without forgeable identifiers, and results are produced instantly. While accessibility, scalability, and GDPR compliant data retention require further development, the system presents a credible and secure foundation for biometric E-voting in the UK.</a:t>
            </a:r>
          </a:p>
          <a:p>
            <a:pPr>
              <a:spcBef>
                <a:spcPct val="40000"/>
              </a:spcBef>
            </a:pPr>
            <a:endParaRPr lang="en-AU" altLang="en-US" sz="3200" dirty="0">
              <a:solidFill>
                <a:srgbClr val="464646"/>
              </a:solidFill>
              <a:latin typeface="Calibri" panose="020F0502020204030204" pitchFamily="34" charset="0"/>
              <a:ea typeface="Calibri" charset="0"/>
              <a:cs typeface="Calibri" panose="020F0502020204030204" pitchFamily="34" charset="0"/>
            </a:endParaRPr>
          </a:p>
        </p:txBody>
      </p:sp>
      <p:sp>
        <p:nvSpPr>
          <p:cNvPr id="103" name="Rectangle 38"/>
          <p:cNvSpPr>
            <a:spLocks noChangeArrowheads="1"/>
          </p:cNvSpPr>
          <p:nvPr/>
        </p:nvSpPr>
        <p:spPr bwMode="auto">
          <a:xfrm>
            <a:off x="32219087" y="7893393"/>
            <a:ext cx="10008000" cy="1440000"/>
          </a:xfrm>
          <a:prstGeom prst="rect">
            <a:avLst/>
          </a:prstGeom>
          <a:solidFill>
            <a:srgbClr val="C4EBD0"/>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Evaluation and Conclusions</a:t>
            </a:r>
          </a:p>
        </p:txBody>
      </p:sp>
      <p:sp>
        <p:nvSpPr>
          <p:cNvPr id="104" name="Rectangle 103"/>
          <p:cNvSpPr>
            <a:spLocks noChangeArrowheads="1"/>
          </p:cNvSpPr>
          <p:nvPr/>
        </p:nvSpPr>
        <p:spPr bwMode="auto">
          <a:xfrm>
            <a:off x="574938" y="9084638"/>
            <a:ext cx="10008000" cy="10268709"/>
          </a:xfrm>
          <a:prstGeom prst="rect">
            <a:avLst/>
          </a:prstGeom>
          <a:solidFill>
            <a:srgbClr val="DDD9D6"/>
          </a:solidFill>
          <a:ln w="12700">
            <a:no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GB" sz="4400" b="1" dirty="0">
                <a:latin typeface="Calibri" panose="020F0502020204030204" pitchFamily="34" charset="0"/>
                <a:cs typeface="Calibri" panose="020F0502020204030204" pitchFamily="34" charset="0"/>
              </a:rPr>
              <a:t>Aims and Objectives</a:t>
            </a:r>
          </a:p>
          <a:p>
            <a:pPr>
              <a:spcBef>
                <a:spcPct val="40000"/>
              </a:spcBef>
            </a:pPr>
            <a:r>
              <a:rPr lang="en-GB" sz="4000" dirty="0">
                <a:latin typeface="Calibri" panose="020F0502020204030204" pitchFamily="34" charset="0"/>
                <a:cs typeface="Calibri" panose="020F0502020204030204" pitchFamily="34" charset="0"/>
              </a:rPr>
              <a:t>The UK Voting System still relies on paper ballots and manual counting, a system largely unchanged since 1888 [7]. This introduces several well-documented vulnerabilities:</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Voter impersonation is difficult to detect under the current name, address, and signature model</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Ballot tampering risk arises from physical handling during transportation and counting</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Manual counting is slow and costly</a:t>
            </a:r>
          </a:p>
          <a:p>
            <a:pPr marL="457200" indent="-457200">
              <a:spcBef>
                <a:spcPct val="40000"/>
              </a:spcBef>
              <a:buFont typeface="Arial" panose="020B0604020202020204" pitchFamily="34" charset="0"/>
              <a:buChar char="•"/>
            </a:pPr>
            <a:r>
              <a:rPr lang="en-GB" sz="3600" dirty="0">
                <a:latin typeface="Calibri" panose="020F0502020204030204" pitchFamily="34" charset="0"/>
                <a:cs typeface="Calibri" panose="020F0502020204030204" pitchFamily="34" charset="0"/>
              </a:rPr>
              <a:t>Postal voting carries documented risks of undue influence, language barriers, and misrepresentation</a:t>
            </a:r>
          </a:p>
          <a:p>
            <a:pPr marL="457200" indent="-457200">
              <a:spcBef>
                <a:spcPct val="40000"/>
              </a:spcBef>
              <a:buFont typeface="Arial" panose="020B0604020202020204" pitchFamily="34" charset="0"/>
              <a:buChar char="•"/>
            </a:pPr>
            <a:endParaRPr lang="en-GB" sz="4000" dirty="0"/>
          </a:p>
          <a:p>
            <a:pPr>
              <a:spcBef>
                <a:spcPct val="40000"/>
              </a:spcBef>
            </a:pPr>
            <a:endParaRPr lang="en-GB" sz="3200" dirty="0">
              <a:latin typeface="Calibri" panose="020F0502020204030204" pitchFamily="34" charset="0"/>
              <a:cs typeface="Calibri" panose="020F0502020204030204" pitchFamily="34" charset="0"/>
            </a:endParaRPr>
          </a:p>
          <a:p>
            <a:pPr marL="457200" indent="-457200">
              <a:spcBef>
                <a:spcPct val="40000"/>
              </a:spcBef>
              <a:buFont typeface="Arial" panose="020B0604020202020204" pitchFamily="34" charset="0"/>
              <a:buChar char="•"/>
            </a:pPr>
            <a:endParaRPr lang="en-US" altLang="en-US" dirty="0"/>
          </a:p>
        </p:txBody>
      </p:sp>
      <p:sp>
        <p:nvSpPr>
          <p:cNvPr id="105" name="Rectangle 38"/>
          <p:cNvSpPr>
            <a:spLocks noChangeArrowheads="1"/>
          </p:cNvSpPr>
          <p:nvPr/>
        </p:nvSpPr>
        <p:spPr bwMode="auto">
          <a:xfrm>
            <a:off x="575087" y="7893393"/>
            <a:ext cx="10008000" cy="1440000"/>
          </a:xfrm>
          <a:prstGeom prst="rect">
            <a:avLst/>
          </a:prstGeom>
          <a:solidFill>
            <a:srgbClr val="DDD9D6"/>
          </a:solidFill>
          <a:ln w="9525">
            <a:noFill/>
            <a:miter lim="800000"/>
            <a:headEnd/>
            <a:tailEnd/>
          </a:ln>
          <a:effectLst/>
        </p:spPr>
        <p:txBody>
          <a:bodyPr wrap="none" lIns="342000" tIns="342000" rIns="342000" bIns="342000" anchor="ctr"/>
          <a:lstStyle/>
          <a:p>
            <a:r>
              <a:rPr lang="en-GB" altLang="en-US" sz="5400" b="1" dirty="0">
                <a:solidFill>
                  <a:srgbClr val="4365E2"/>
                </a:solidFill>
                <a:latin typeface="Calibri" charset="0"/>
                <a:ea typeface="Calibri" charset="0"/>
                <a:cs typeface="Calibri" charset="0"/>
              </a:rPr>
              <a:t>Introduction</a:t>
            </a:r>
          </a:p>
        </p:txBody>
      </p:sp>
      <p:sp>
        <p:nvSpPr>
          <p:cNvPr id="106" name="Rectangle 7"/>
          <p:cNvSpPr>
            <a:spLocks noChangeArrowheads="1"/>
          </p:cNvSpPr>
          <p:nvPr/>
        </p:nvSpPr>
        <p:spPr bwMode="auto">
          <a:xfrm>
            <a:off x="11123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endParaRPr lang="en-GB" altLang="en-US" sz="3200" dirty="0">
              <a:solidFill>
                <a:srgbClr val="464646"/>
              </a:solidFill>
              <a:latin typeface="Calibri" charset="0"/>
              <a:ea typeface="Calibri" charset="0"/>
              <a:cs typeface="Calibri" charset="0"/>
            </a:endParaRPr>
          </a:p>
        </p:txBody>
      </p:sp>
      <p:sp>
        <p:nvSpPr>
          <p:cNvPr id="107" name="Rectangle 38"/>
          <p:cNvSpPr>
            <a:spLocks noChangeArrowheads="1"/>
          </p:cNvSpPr>
          <p:nvPr/>
        </p:nvSpPr>
        <p:spPr bwMode="auto">
          <a:xfrm>
            <a:off x="11123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Biometric Technology</a:t>
            </a:r>
          </a:p>
        </p:txBody>
      </p:sp>
      <p:sp>
        <p:nvSpPr>
          <p:cNvPr id="190" name="TextBox 189"/>
          <p:cNvSpPr txBox="1"/>
          <p:nvPr/>
        </p:nvSpPr>
        <p:spPr>
          <a:xfrm>
            <a:off x="22077631" y="16405368"/>
            <a:ext cx="9309501" cy="492443"/>
          </a:xfrm>
          <a:prstGeom prst="rect">
            <a:avLst/>
          </a:prstGeom>
          <a:noFill/>
        </p:spPr>
        <p:txBody>
          <a:bodyPr wrap="square" rtlCol="0">
            <a:spAutoFit/>
          </a:bodyPr>
          <a:lstStyle/>
          <a:p>
            <a:r>
              <a:rPr lang="en-US" sz="2600" i="1" dirty="0">
                <a:solidFill>
                  <a:srgbClr val="464646"/>
                </a:solidFill>
                <a:latin typeface="Calibri" charset="0"/>
                <a:ea typeface="Calibri" charset="0"/>
                <a:cs typeface="Calibri" charset="0"/>
              </a:rPr>
              <a:t>Vote Type Selection Screen From Secure Vote App</a:t>
            </a:r>
          </a:p>
        </p:txBody>
      </p:sp>
      <p:sp>
        <p:nvSpPr>
          <p:cNvPr id="64" name="TextBox 63"/>
          <p:cNvSpPr txBox="1"/>
          <p:nvPr/>
        </p:nvSpPr>
        <p:spPr>
          <a:xfrm>
            <a:off x="556461" y="4499989"/>
            <a:ext cx="41670625" cy="2539157"/>
          </a:xfrm>
          <a:prstGeom prst="rect">
            <a:avLst/>
          </a:prstGeom>
          <a:noFill/>
        </p:spPr>
        <p:txBody>
          <a:bodyPr wrap="square" lIns="0" tIns="0" rIns="0" bIns="0" rtlCol="0">
            <a:spAutoFit/>
          </a:bodyPr>
          <a:lstStyle/>
          <a:p>
            <a:pPr algn="ctr" fontAlgn="t">
              <a:spcAft>
                <a:spcPts val="1200"/>
              </a:spcAft>
            </a:pPr>
            <a:r>
              <a:rPr lang="en-GB" sz="11500" b="1" dirty="0">
                <a:solidFill>
                  <a:srgbClr val="4365E2"/>
                </a:solidFill>
                <a:latin typeface="Calibri" charset="0"/>
                <a:ea typeface="Calibri" charset="0"/>
                <a:cs typeface="Calibri" charset="0"/>
              </a:rPr>
              <a:t>Fingerprint Authenticated E-Voting System </a:t>
            </a:r>
            <a:endParaRPr lang="en-GB" sz="2800" b="1" dirty="0">
              <a:latin typeface="Calibri" panose="020F0502020204030204" pitchFamily="34" charset="0"/>
              <a:cs typeface="Calibri" panose="020F0502020204030204" pitchFamily="34" charset="0"/>
            </a:endParaRPr>
          </a:p>
          <a:p>
            <a:pPr algn="ctr" fontAlgn="t">
              <a:spcAft>
                <a:spcPts val="1200"/>
              </a:spcAft>
            </a:pPr>
            <a:r>
              <a:rPr lang="en-GB" sz="4000" dirty="0">
                <a:solidFill>
                  <a:srgbClr val="4365E2"/>
                </a:solidFill>
                <a:latin typeface="Calibri" charset="0"/>
                <a:ea typeface="Calibri" charset="0"/>
                <a:cs typeface="Calibri" charset="0"/>
              </a:rPr>
              <a:t>Alexander Gordon</a:t>
            </a:r>
          </a:p>
        </p:txBody>
      </p:sp>
      <p:graphicFrame>
        <p:nvGraphicFramePr>
          <p:cNvPr id="5" name="Table 4">
            <a:extLst>
              <a:ext uri="{FF2B5EF4-FFF2-40B4-BE49-F238E27FC236}">
                <a16:creationId xmlns:a16="http://schemas.microsoft.com/office/drawing/2014/main" id="{F7E3B90B-E8A4-4A0D-472A-E70748A3EB36}"/>
              </a:ext>
            </a:extLst>
          </p:cNvPr>
          <p:cNvGraphicFramePr>
            <a:graphicFrameLocks noGrp="1"/>
          </p:cNvGraphicFramePr>
          <p:nvPr>
            <p:extLst>
              <p:ext uri="{D42A27DB-BD31-4B8C-83A1-F6EECF244321}">
                <p14:modId xmlns:p14="http://schemas.microsoft.com/office/powerpoint/2010/main" val="1245693114"/>
              </p:ext>
            </p:extLst>
          </p:nvPr>
        </p:nvGraphicFramePr>
        <p:xfrm>
          <a:off x="11428215" y="9566226"/>
          <a:ext cx="9361041" cy="2804160"/>
        </p:xfrm>
        <a:graphic>
          <a:graphicData uri="http://schemas.openxmlformats.org/drawingml/2006/table">
            <a:tbl>
              <a:tblPr firstRow="1" bandRow="1">
                <a:tableStyleId>{7DF18680-E054-41AD-8BC1-D1AEF772440D}</a:tableStyleId>
              </a:tblPr>
              <a:tblGrid>
                <a:gridCol w="3120347">
                  <a:extLst>
                    <a:ext uri="{9D8B030D-6E8A-4147-A177-3AD203B41FA5}">
                      <a16:colId xmlns:a16="http://schemas.microsoft.com/office/drawing/2014/main" val="2120753307"/>
                    </a:ext>
                  </a:extLst>
                </a:gridCol>
                <a:gridCol w="3120347">
                  <a:extLst>
                    <a:ext uri="{9D8B030D-6E8A-4147-A177-3AD203B41FA5}">
                      <a16:colId xmlns:a16="http://schemas.microsoft.com/office/drawing/2014/main" val="3361164562"/>
                    </a:ext>
                  </a:extLst>
                </a:gridCol>
                <a:gridCol w="3120347">
                  <a:extLst>
                    <a:ext uri="{9D8B030D-6E8A-4147-A177-3AD203B41FA5}">
                      <a16:colId xmlns:a16="http://schemas.microsoft.com/office/drawing/2014/main" val="3815099714"/>
                    </a:ext>
                  </a:extLst>
                </a:gridCol>
              </a:tblGrid>
              <a:tr h="546164">
                <a:tc>
                  <a:txBody>
                    <a:bodyPr/>
                    <a:lstStyle/>
                    <a:p>
                      <a:r>
                        <a:rPr lang="en-GB" sz="3200" dirty="0">
                          <a:latin typeface="Calibri" panose="020F0502020204030204" pitchFamily="34" charset="0"/>
                          <a:cs typeface="Calibri" panose="020F0502020204030204" pitchFamily="34" charset="0"/>
                        </a:rPr>
                        <a:t>Scanner</a:t>
                      </a:r>
                    </a:p>
                  </a:txBody>
                  <a:tcPr/>
                </a:tc>
                <a:tc>
                  <a:txBody>
                    <a:bodyPr/>
                    <a:lstStyle/>
                    <a:p>
                      <a:r>
                        <a:rPr lang="en-GB" sz="3200" dirty="0">
                          <a:latin typeface="Calibri" panose="020F0502020204030204" pitchFamily="34" charset="0"/>
                          <a:cs typeface="Calibri" panose="020F0502020204030204" pitchFamily="34" charset="0"/>
                        </a:rPr>
                        <a:t>Cost(USD)</a:t>
                      </a:r>
                    </a:p>
                  </a:txBody>
                  <a:tcPr/>
                </a:tc>
                <a:tc>
                  <a:txBody>
                    <a:bodyPr/>
                    <a:lstStyle/>
                    <a:p>
                      <a:r>
                        <a:rPr lang="en-GB" sz="3200" dirty="0">
                          <a:latin typeface="Calibri" panose="020F0502020204030204" pitchFamily="34" charset="0"/>
                          <a:cs typeface="Calibri" panose="020F0502020204030204" pitchFamily="34" charset="0"/>
                        </a:rPr>
                        <a:t>False Acceptance Rate</a:t>
                      </a:r>
                    </a:p>
                  </a:txBody>
                  <a:tcPr/>
                </a:tc>
                <a:extLst>
                  <a:ext uri="{0D108BD9-81ED-4DB2-BD59-A6C34878D82A}">
                    <a16:rowId xmlns:a16="http://schemas.microsoft.com/office/drawing/2014/main" val="4084550987"/>
                  </a:ext>
                </a:extLst>
              </a:tr>
              <a:tr h="546164">
                <a:tc>
                  <a:txBody>
                    <a:bodyPr/>
                    <a:lstStyle/>
                    <a:p>
                      <a:pPr>
                        <a:buNone/>
                      </a:pPr>
                      <a:r>
                        <a:rPr lang="en-GB" sz="3200" dirty="0">
                          <a:latin typeface="Calibri" panose="020F0502020204030204" pitchFamily="34" charset="0"/>
                          <a:cs typeface="Calibri" panose="020F0502020204030204" pitchFamily="34" charset="0"/>
                        </a:rPr>
                        <a:t>Iris</a:t>
                      </a:r>
                    </a:p>
                  </a:txBody>
                  <a:tcPr anchor="ctr"/>
                </a:tc>
                <a:tc>
                  <a:txBody>
                    <a:bodyPr/>
                    <a:lstStyle/>
                    <a:p>
                      <a:pPr>
                        <a:buNone/>
                      </a:pPr>
                      <a:r>
                        <a:rPr lang="en-GB" sz="3200" dirty="0">
                          <a:latin typeface="Calibri" panose="020F0502020204030204" pitchFamily="34" charset="0"/>
                          <a:cs typeface="Calibri" panose="020F0502020204030204" pitchFamily="34" charset="0"/>
                        </a:rPr>
                        <a:t>$1,500 – $3,000</a:t>
                      </a:r>
                    </a:p>
                  </a:txBody>
                  <a:tcPr anchor="ctr"/>
                </a:tc>
                <a:tc>
                  <a:txBody>
                    <a:bodyPr/>
                    <a:lstStyle/>
                    <a:p>
                      <a:pPr>
                        <a:buNone/>
                      </a:pPr>
                      <a:r>
                        <a:rPr lang="en-GB" sz="3200" dirty="0">
                          <a:latin typeface="Calibri" panose="020F0502020204030204" pitchFamily="34" charset="0"/>
                          <a:cs typeface="Calibri" panose="020F0502020204030204" pitchFamily="34" charset="0"/>
                        </a:rPr>
                        <a:t>0.0001 – 0.01%</a:t>
                      </a:r>
                    </a:p>
                  </a:txBody>
                  <a:tcPr anchor="ctr"/>
                </a:tc>
                <a:extLst>
                  <a:ext uri="{0D108BD9-81ED-4DB2-BD59-A6C34878D82A}">
                    <a16:rowId xmlns:a16="http://schemas.microsoft.com/office/drawing/2014/main" val="4271981993"/>
                  </a:ext>
                </a:extLst>
              </a:tr>
              <a:tr h="546164">
                <a:tc>
                  <a:txBody>
                    <a:bodyPr/>
                    <a:lstStyle/>
                    <a:p>
                      <a:pPr>
                        <a:buNone/>
                      </a:pPr>
                      <a:r>
                        <a:rPr lang="en-GB" sz="3200" dirty="0">
                          <a:latin typeface="Calibri" panose="020F0502020204030204" pitchFamily="34" charset="0"/>
                          <a:cs typeface="Calibri" panose="020F0502020204030204" pitchFamily="34" charset="0"/>
                        </a:rPr>
                        <a:t>Face</a:t>
                      </a:r>
                    </a:p>
                  </a:txBody>
                  <a:tcPr anchor="ctr"/>
                </a:tc>
                <a:tc>
                  <a:txBody>
                    <a:bodyPr/>
                    <a:lstStyle/>
                    <a:p>
                      <a:pPr>
                        <a:buNone/>
                      </a:pPr>
                      <a:r>
                        <a:rPr lang="en-GB" sz="3200" dirty="0">
                          <a:latin typeface="Calibri" panose="020F0502020204030204" pitchFamily="34" charset="0"/>
                          <a:cs typeface="Calibri" panose="020F0502020204030204" pitchFamily="34" charset="0"/>
                        </a:rPr>
                        <a:t>$1,000 – $2,500</a:t>
                      </a:r>
                    </a:p>
                  </a:txBody>
                  <a:tcPr anchor="ctr"/>
                </a:tc>
                <a:tc>
                  <a:txBody>
                    <a:bodyPr/>
                    <a:lstStyle/>
                    <a:p>
                      <a:pPr>
                        <a:buNone/>
                      </a:pPr>
                      <a:r>
                        <a:rPr lang="en-GB" sz="3200" dirty="0">
                          <a:latin typeface="Calibri" panose="020F0502020204030204" pitchFamily="34" charset="0"/>
                          <a:cs typeface="Calibri" panose="020F0502020204030204" pitchFamily="34" charset="0"/>
                        </a:rPr>
                        <a:t>0.1 – 1.0%</a:t>
                      </a:r>
                    </a:p>
                  </a:txBody>
                  <a:tcPr anchor="ctr"/>
                </a:tc>
                <a:extLst>
                  <a:ext uri="{0D108BD9-81ED-4DB2-BD59-A6C34878D82A}">
                    <a16:rowId xmlns:a16="http://schemas.microsoft.com/office/drawing/2014/main" val="3836305205"/>
                  </a:ext>
                </a:extLst>
              </a:tr>
              <a:tr h="546164">
                <a:tc>
                  <a:txBody>
                    <a:bodyPr/>
                    <a:lstStyle/>
                    <a:p>
                      <a:pPr>
                        <a:buNone/>
                      </a:pPr>
                      <a:r>
                        <a:rPr lang="en-GB" sz="3200" dirty="0">
                          <a:latin typeface="Calibri" panose="020F0502020204030204" pitchFamily="34" charset="0"/>
                          <a:cs typeface="Calibri" panose="020F0502020204030204" pitchFamily="34" charset="0"/>
                        </a:rPr>
                        <a:t>Fingerprint</a:t>
                      </a:r>
                    </a:p>
                  </a:txBody>
                  <a:tcPr anchor="ctr"/>
                </a:tc>
                <a:tc>
                  <a:txBody>
                    <a:bodyPr/>
                    <a:lstStyle/>
                    <a:p>
                      <a:pPr>
                        <a:buNone/>
                      </a:pPr>
                      <a:r>
                        <a:rPr lang="en-GB" sz="3200" dirty="0">
                          <a:latin typeface="Calibri" panose="020F0502020204030204" pitchFamily="34" charset="0"/>
                          <a:cs typeface="Calibri" panose="020F0502020204030204" pitchFamily="34" charset="0"/>
                        </a:rPr>
                        <a:t>$200 – $1,500</a:t>
                      </a:r>
                    </a:p>
                  </a:txBody>
                  <a:tcPr anchor="ctr"/>
                </a:tc>
                <a:tc>
                  <a:txBody>
                    <a:bodyPr/>
                    <a:lstStyle/>
                    <a:p>
                      <a:pPr>
                        <a:buNone/>
                      </a:pPr>
                      <a:r>
                        <a:rPr lang="en-GB" sz="3200" dirty="0">
                          <a:latin typeface="Calibri" panose="020F0502020204030204" pitchFamily="34" charset="0"/>
                          <a:cs typeface="Calibri" panose="020F0502020204030204" pitchFamily="34" charset="0"/>
                        </a:rPr>
                        <a:t>0.01 – 0.1%</a:t>
                      </a:r>
                    </a:p>
                  </a:txBody>
                  <a:tcPr anchor="ctr"/>
                </a:tc>
                <a:extLst>
                  <a:ext uri="{0D108BD9-81ED-4DB2-BD59-A6C34878D82A}">
                    <a16:rowId xmlns:a16="http://schemas.microsoft.com/office/drawing/2014/main" val="3042196347"/>
                  </a:ext>
                </a:extLst>
              </a:tr>
            </a:tbl>
          </a:graphicData>
        </a:graphic>
      </p:graphicFrame>
      <p:sp>
        <p:nvSpPr>
          <p:cNvPr id="6" name="TextBox 5">
            <a:extLst>
              <a:ext uri="{FF2B5EF4-FFF2-40B4-BE49-F238E27FC236}">
                <a16:creationId xmlns:a16="http://schemas.microsoft.com/office/drawing/2014/main" id="{381F6025-EA0F-F929-4139-194D8AC399F7}"/>
              </a:ext>
            </a:extLst>
          </p:cNvPr>
          <p:cNvSpPr txBox="1"/>
          <p:nvPr/>
        </p:nvSpPr>
        <p:spPr>
          <a:xfrm>
            <a:off x="11240154" y="13090892"/>
            <a:ext cx="9978615" cy="4093428"/>
          </a:xfrm>
          <a:prstGeom prst="rect">
            <a:avLst/>
          </a:prstGeom>
          <a:noFill/>
        </p:spPr>
        <p:txBody>
          <a:bodyPr wrap="square" rtlCol="0">
            <a:spAutoFit/>
          </a:bodyPr>
          <a:lstStyle/>
          <a:p>
            <a:r>
              <a:rPr lang="en-GB" sz="3600" b="1" dirty="0">
                <a:latin typeface="Calibri" panose="020F0502020204030204" pitchFamily="34" charset="0"/>
                <a:cs typeface="Calibri" panose="020F0502020204030204" pitchFamily="34" charset="0"/>
              </a:rPr>
              <a:t>Fingerprint scanning was selected based on:</a:t>
            </a:r>
            <a:endParaRPr lang="en-GB" sz="3600" dirty="0">
              <a:latin typeface="Calibri" panose="020F0502020204030204" pitchFamily="34" charset="0"/>
              <a:cs typeface="Calibri" panose="020F0502020204030204" pitchFamily="34" charset="0"/>
            </a:endParaRP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Most cost-effective option at $200–$1,500 per unit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FAR below 0.1%</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Capacitive sensors are significantly more resistant to spoofing than optical alternatives</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Real world viability shown by Brazil's national deployment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Thumb selected as primary input for larger surface area</a:t>
            </a:r>
          </a:p>
        </p:txBody>
      </p:sp>
      <p:pic>
        <p:nvPicPr>
          <p:cNvPr id="8" name="Picture 7">
            <a:extLst>
              <a:ext uri="{FF2B5EF4-FFF2-40B4-BE49-F238E27FC236}">
                <a16:creationId xmlns:a16="http://schemas.microsoft.com/office/drawing/2014/main" id="{F55EEBDC-EFD0-5FD0-9916-8FE3E89B1711}"/>
              </a:ext>
            </a:extLst>
          </p:cNvPr>
          <p:cNvPicPr>
            <a:picLocks noChangeAspect="1"/>
          </p:cNvPicPr>
          <p:nvPr/>
        </p:nvPicPr>
        <p:blipFill>
          <a:blip r:embed="rId3"/>
          <a:stretch>
            <a:fillRect/>
          </a:stretch>
        </p:blipFill>
        <p:spPr>
          <a:xfrm>
            <a:off x="21935694" y="11609214"/>
            <a:ext cx="9512214" cy="4796154"/>
          </a:xfrm>
          <a:prstGeom prst="rect">
            <a:avLst/>
          </a:prstGeom>
        </p:spPr>
      </p:pic>
      <p:sp>
        <p:nvSpPr>
          <p:cNvPr id="2" name="TextBox 1">
            <a:extLst>
              <a:ext uri="{FF2B5EF4-FFF2-40B4-BE49-F238E27FC236}">
                <a16:creationId xmlns:a16="http://schemas.microsoft.com/office/drawing/2014/main" id="{294C8D44-F438-CC27-E6B8-E5DD498A88C5}"/>
              </a:ext>
            </a:extLst>
          </p:cNvPr>
          <p:cNvSpPr txBox="1"/>
          <p:nvPr/>
        </p:nvSpPr>
        <p:spPr>
          <a:xfrm>
            <a:off x="11428215" y="12443261"/>
            <a:ext cx="9361040" cy="523220"/>
          </a:xfrm>
          <a:prstGeom prst="rect">
            <a:avLst/>
          </a:prstGeom>
          <a:noFill/>
        </p:spPr>
        <p:txBody>
          <a:bodyPr wrap="square" rtlCol="0">
            <a:spAutoFit/>
          </a:bodyPr>
          <a:lstStyle/>
          <a:p>
            <a:r>
              <a:rPr lang="en-GB" sz="2800" i="1" dirty="0">
                <a:latin typeface="Calibri" panose="020F0502020204030204" pitchFamily="34" charset="0"/>
                <a:cs typeface="Calibri" panose="020F0502020204030204" pitchFamily="34" charset="0"/>
              </a:rPr>
              <a:t>Table of scanner cost and False Acceptance Rate [12][19]</a:t>
            </a:r>
          </a:p>
        </p:txBody>
      </p:sp>
      <p:sp>
        <p:nvSpPr>
          <p:cNvPr id="3" name="Rectangle 7">
            <a:extLst>
              <a:ext uri="{FF2B5EF4-FFF2-40B4-BE49-F238E27FC236}">
                <a16:creationId xmlns:a16="http://schemas.microsoft.com/office/drawing/2014/main" id="{F0A28DA8-A905-BF33-9733-FB2FC4A28E3B}"/>
              </a:ext>
            </a:extLst>
          </p:cNvPr>
          <p:cNvSpPr>
            <a:spLocks noChangeArrowheads="1"/>
          </p:cNvSpPr>
          <p:nvPr/>
        </p:nvSpPr>
        <p:spPr bwMode="auto">
          <a:xfrm>
            <a:off x="574154" y="20743920"/>
            <a:ext cx="10008000" cy="9119816"/>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4000" b="1" dirty="0" err="1">
                <a:latin typeface="Calibri" panose="020F0502020204030204" pitchFamily="34" charset="0"/>
                <a:cs typeface="Calibri" panose="020F0502020204030204" pitchFamily="34" charset="0"/>
              </a:rPr>
              <a:t>SourceAFIS</a:t>
            </a:r>
            <a:r>
              <a:rPr lang="en-AU" altLang="en-US" sz="4000" b="1" dirty="0">
                <a:latin typeface="Calibri" panose="020F0502020204030204" pitchFamily="34" charset="0"/>
                <a:cs typeface="Calibri" panose="020F0502020204030204" pitchFamily="34" charset="0"/>
              </a:rPr>
              <a:t> Testing </a:t>
            </a:r>
          </a:p>
          <a:p>
            <a:pPr>
              <a:spcBef>
                <a:spcPct val="40000"/>
              </a:spcBef>
            </a:pPr>
            <a:r>
              <a:rPr lang="en-GB" sz="3200" dirty="0" err="1">
                <a:latin typeface="Calibri" panose="020F0502020204030204" pitchFamily="34" charset="0"/>
                <a:cs typeface="Calibri" panose="020F0502020204030204" pitchFamily="34" charset="0"/>
              </a:rPr>
              <a:t>SourceAFIS</a:t>
            </a:r>
            <a:r>
              <a:rPr lang="en-GB" sz="3200" dirty="0">
                <a:latin typeface="Calibri" panose="020F0502020204030204" pitchFamily="34" charset="0"/>
                <a:cs typeface="Calibri" panose="020F0502020204030204" pitchFamily="34" charset="0"/>
              </a:rPr>
              <a:t> was tested against two open source datasets. Firstly FVC2002, providing clean fingerprint scans to benchmark performance under ideal conditions, and </a:t>
            </a:r>
            <a:r>
              <a:rPr lang="en-GB" sz="3200" dirty="0" err="1">
                <a:latin typeface="Calibri" panose="020F0502020204030204" pitchFamily="34" charset="0"/>
                <a:cs typeface="Calibri" panose="020F0502020204030204" pitchFamily="34" charset="0"/>
              </a:rPr>
              <a:t>SOCOFing</a:t>
            </a:r>
            <a:r>
              <a:rPr lang="en-GB" sz="3200" dirty="0">
                <a:latin typeface="Calibri" panose="020F0502020204030204" pitchFamily="34" charset="0"/>
                <a:cs typeface="Calibri" panose="020F0502020204030204" pitchFamily="34" charset="0"/>
              </a:rPr>
              <a:t>, containing deliberately damaged fingerprints to challenge the system's ability to reject false positive matches. The test showed that </a:t>
            </a:r>
            <a:r>
              <a:rPr lang="en-GB" sz="3200" dirty="0" err="1">
                <a:latin typeface="Calibri" panose="020F0502020204030204" pitchFamily="34" charset="0"/>
                <a:cs typeface="Calibri" panose="020F0502020204030204" pitchFamily="34" charset="0"/>
              </a:rPr>
              <a:t>SourceAFIS</a:t>
            </a:r>
            <a:r>
              <a:rPr lang="en-GB" sz="3200" dirty="0">
                <a:latin typeface="Calibri" panose="020F0502020204030204" pitchFamily="34" charset="0"/>
                <a:cs typeface="Calibri" panose="020F0502020204030204" pitchFamily="34" charset="0"/>
              </a:rPr>
              <a:t> had a False Acceptance Rate of 0 for both databases, showing that it is a secure software to use in a voting system as it rejects all false matches. </a:t>
            </a:r>
          </a:p>
          <a:p>
            <a:pPr>
              <a:spcBef>
                <a:spcPct val="40000"/>
              </a:spcBef>
            </a:pPr>
            <a:r>
              <a:rPr lang="en-GB" altLang="en-US" sz="4000" b="1" dirty="0">
                <a:latin typeface="Calibri" panose="020F0502020204030204" pitchFamily="34" charset="0"/>
                <a:cs typeface="Calibri" panose="020F0502020204030204" pitchFamily="34" charset="0"/>
              </a:rPr>
              <a:t>Server Load Testing </a:t>
            </a:r>
          </a:p>
          <a:p>
            <a:pPr>
              <a:spcBef>
                <a:spcPct val="40000"/>
              </a:spcBef>
            </a:pPr>
            <a:r>
              <a:rPr lang="en-GB" sz="3200" dirty="0">
                <a:latin typeface="Calibri" panose="020F0502020204030204" pitchFamily="34" charset="0"/>
                <a:cs typeface="Calibri" panose="020F0502020204030204" pitchFamily="34" charset="0"/>
              </a:rPr>
              <a:t>A concurrent connection load test was conducted against the live EC2 hosted server, increasing connections across five levels from 100 to 2,000. The server handled up to 964 simultaneous connections reliably, with failures increasing significantly beyond. </a:t>
            </a:r>
            <a:endParaRPr lang="en-AU" altLang="en-US" sz="3200" dirty="0">
              <a:latin typeface="Calibri" panose="020F0502020204030204" pitchFamily="34" charset="0"/>
              <a:cs typeface="Calibri" panose="020F0502020204030204" pitchFamily="34" charset="0"/>
            </a:endParaRPr>
          </a:p>
        </p:txBody>
      </p:sp>
      <p:sp>
        <p:nvSpPr>
          <p:cNvPr id="4" name="Rectangle 38">
            <a:extLst>
              <a:ext uri="{FF2B5EF4-FFF2-40B4-BE49-F238E27FC236}">
                <a16:creationId xmlns:a16="http://schemas.microsoft.com/office/drawing/2014/main" id="{9B6C0241-0A25-C326-44EB-BB21DE5F67D3}"/>
              </a:ext>
            </a:extLst>
          </p:cNvPr>
          <p:cNvSpPr>
            <a:spLocks noChangeArrowheads="1"/>
          </p:cNvSpPr>
          <p:nvPr/>
        </p:nvSpPr>
        <p:spPr bwMode="auto">
          <a:xfrm>
            <a:off x="572833" y="19698100"/>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Testing</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235666751A724C938C7AF2669C9BA1" ma:contentTypeVersion="14" ma:contentTypeDescription="Create a new document." ma:contentTypeScope="" ma:versionID="51605ae0d0c34da1a44e931d185d8c83">
  <xsd:schema xmlns:xsd="http://www.w3.org/2001/XMLSchema" xmlns:xs="http://www.w3.org/2001/XMLSchema" xmlns:p="http://schemas.microsoft.com/office/2006/metadata/properties" xmlns:ns2="112ffb48-8981-4710-8c0c-6d30fdfc7b9a" xmlns:ns3="37af0f57-e4e7-4324-bf64-93cbde7d04ef" targetNamespace="http://schemas.microsoft.com/office/2006/metadata/properties" ma:root="true" ma:fieldsID="f9e89b9c62fdd742025fcaa3b1a9fa41" ns2:_="" ns3:_="">
    <xsd:import namespace="112ffb48-8981-4710-8c0c-6d30fdfc7b9a"/>
    <xsd:import namespace="37af0f57-e4e7-4324-bf64-93cbde7d04ef"/>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2ffb48-8981-4710-8c0c-6d30fdfc7b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7af0f57-e4e7-4324-bf64-93cbde7d04ef"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65D0E912-FAE1-480B-B795-CE11C37D717D}">
  <ds:schemaRefs>
    <ds:schemaRef ds:uri="http://schemas.microsoft.com/sharepoint/v3/contenttype/forms"/>
  </ds:schemaRefs>
</ds:datastoreItem>
</file>

<file path=customXml/itemProps2.xml><?xml version="1.0" encoding="utf-8"?>
<ds:datastoreItem xmlns:ds="http://schemas.openxmlformats.org/officeDocument/2006/customXml" ds:itemID="{FAC38B0C-5FCA-4AB6-BADA-9D86CEC4B5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2ffb48-8981-4710-8c0c-6d30fdfc7b9a"/>
    <ds:schemaRef ds:uri="37af0f57-e4e7-4324-bf64-93cbde7d04e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4CD8CF-1E7F-4189-A2CF-F0D242259026}">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Facet</Template>
  <TotalTime>558</TotalTime>
  <Words>919</Words>
  <Application>Microsoft Macintosh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Times</vt:lpstr>
      <vt:lpstr>Tw Cen MT</vt:lpstr>
      <vt:lpstr>Tw Cen MT Condensed</vt:lpstr>
      <vt:lpstr>Wingdings 3</vt:lpstr>
      <vt:lpstr>Integral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Steve Burrows (Staff)</dc:creator>
  <cp:lastModifiedBy>Alexander Gordon (Student)</cp:lastModifiedBy>
  <cp:revision>13</cp:revision>
  <dcterms:created xsi:type="dcterms:W3CDTF">2017-05-30T08:38:05Z</dcterms:created>
  <dcterms:modified xsi:type="dcterms:W3CDTF">2026-04-27T18:39:13Z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0x010100F9235666751A724C938C7AF2669C9BA1</vt:lpwstr>
  </property>
  <property fmtid="{D5CDD505-2E9C-101B-9397-08002B2CF9AE}" pid="3" name="Order">
    <vt:r8>2400</vt:r8>
  </property>
  <property fmtid="{D5CDD505-2E9C-101B-9397-08002B2CF9AE}" pid="4" name="MSIP_Label_a618d1e0-f5d7-4da7-8ddd-3b83021a2c85_Enabled">
    <vt:lpwstr>true</vt:lpwstr>
  </property>
  <property fmtid="{D5CDD505-2E9C-101B-9397-08002B2CF9AE}" pid="5" name="MSIP_Label_a618d1e0-f5d7-4da7-8ddd-3b83021a2c85_SetDate">
    <vt:lpwstr>2026-04-26T23:14:11Z</vt:lpwstr>
  </property>
  <property fmtid="{D5CDD505-2E9C-101B-9397-08002B2CF9AE}" pid="6" name="MSIP_Label_a618d1e0-f5d7-4da7-8ddd-3b83021a2c85_Method">
    <vt:lpwstr>Standard</vt:lpwstr>
  </property>
  <property fmtid="{D5CDD505-2E9C-101B-9397-08002B2CF9AE}" pid="7" name="MSIP_Label_a618d1e0-f5d7-4da7-8ddd-3b83021a2c85_Name">
    <vt:lpwstr>Private</vt:lpwstr>
  </property>
  <property fmtid="{D5CDD505-2E9C-101B-9397-08002B2CF9AE}" pid="8" name="MSIP_Label_a618d1e0-f5d7-4da7-8ddd-3b83021a2c85_SiteId">
    <vt:lpwstr>ae323139-093a-4d2a-81a6-5d334bcd9019</vt:lpwstr>
  </property>
  <property fmtid="{D5CDD505-2E9C-101B-9397-08002B2CF9AE}" pid="9" name="MSIP_Label_a618d1e0-f5d7-4da7-8ddd-3b83021a2c85_ActionId">
    <vt:lpwstr>41dff6ab-1150-4a14-a28f-30269725be18</vt:lpwstr>
  </property>
  <property fmtid="{D5CDD505-2E9C-101B-9397-08002B2CF9AE}" pid="10" name="MSIP_Label_a618d1e0-f5d7-4da7-8ddd-3b83021a2c85_ContentBits">
    <vt:lpwstr>0</vt:lpwstr>
  </property>
  <property fmtid="{D5CDD505-2E9C-101B-9397-08002B2CF9AE}" pid="11" name="MSIP_Label_a618d1e0-f5d7-4da7-8ddd-3b83021a2c85_Tag">
    <vt:lpwstr>10, 3, 0, 1</vt:lpwstr>
  </property>
</Properties>
</file>